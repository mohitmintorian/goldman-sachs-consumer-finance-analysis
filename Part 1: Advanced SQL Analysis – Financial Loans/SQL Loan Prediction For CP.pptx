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69" r:id="rId2"/>
    <p:sldId id="257" r:id="rId3"/>
    <p:sldId id="258" r:id="rId4"/>
    <p:sldId id="259" r:id="rId5"/>
    <p:sldId id="260" r:id="rId6"/>
    <p:sldId id="261" r:id="rId7"/>
    <p:sldId id="256" r:id="rId8"/>
    <p:sldId id="262" r:id="rId9"/>
    <p:sldId id="263" r:id="rId10"/>
    <p:sldId id="264" r:id="rId11"/>
    <p:sldId id="265" r:id="rId12"/>
    <p:sldId id="270" r:id="rId13"/>
  </p:sldIdLst>
  <p:sldSz cx="12192000" cy="6858000"/>
  <p:notesSz cx="6858000" cy="12192000"/>
  <p:embeddedFontLs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DM Sans" pitchFamily="2" charset="0"/>
      <p:regular r:id="rId19"/>
      <p:bold r:id="rId20"/>
    </p:embeddedFont>
    <p:embeddedFont>
      <p:font typeface="DM Sans Bold" charset="0"/>
      <p:regular r:id="rId21"/>
    </p:embeddedFont>
    <p:embeddedFont>
      <p:font typeface="DM Sans SemiBold" panose="020B0604020202020204" charset="0"/>
      <p:regular r:id="rId22"/>
    </p:embeddedFont>
    <p:embeddedFont>
      <p:font typeface="Twemoji Mozilla" panose="02000509000000000000" pitchFamily="49" charset="0"/>
      <p:regular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301" y="5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5191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3311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89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1246" y="203200"/>
            <a:ext cx="11469202" cy="645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49530" dist="3302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1246" y="203200"/>
            <a:ext cx="11469202" cy="64516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blurRad="2032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1246" y="203200"/>
            <a:ext cx="11469202" cy="64516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blurRad="36830" dist="2413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1246" y="203200"/>
            <a:ext cx="11469202" cy="64516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blurRad="2921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1246" y="203200"/>
            <a:ext cx="11469202" cy="645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40640" dist="2667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1246" y="203200"/>
            <a:ext cx="11469202" cy="64516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blurRad="34290" dist="2286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1246" y="203200"/>
            <a:ext cx="11469202" cy="64516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blurRad="35560" dist="2286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png"/><Relationship Id="rId4" Type="http://schemas.openxmlformats.org/officeDocument/2006/relationships/image" Target="../media/image2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svg"/><Relationship Id="rId4" Type="http://schemas.openxmlformats.org/officeDocument/2006/relationships/image" Target="../media/image2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76511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Goldman Sachs Consumer Finance Data Analysis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233414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2E45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SQL Capstone Project</a:t>
            </a:r>
            <a:r>
              <a:rPr lang="en-US" sz="18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— Risk Assessment &amp; Portfolio Health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812157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end-to-end audit of a large-scale consumer loan dataset to uncover regional growth trends, default risks, and financial performance using Advanced SQL.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3676848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4A4A4A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3962102"/>
            <a:ext cx="10868745" cy="1404243"/>
          </a:xfrm>
          <a:prstGeom prst="roundRect">
            <a:avLst>
              <a:gd name="adj" fmla="val 12114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blurRad="127" dist="2413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67825" y="3968452"/>
            <a:ext cx="3618616" cy="1391543"/>
          </a:xfrm>
          <a:custGeom>
            <a:avLst/>
            <a:gdLst/>
            <a:ahLst/>
            <a:cxnLst/>
            <a:rect l="l" t="t" r="r" b="b"/>
            <a:pathLst>
              <a:path w="3618616" h="1391543">
                <a:moveTo>
                  <a:pt x="141764" y="0"/>
                </a:moveTo>
                <a:lnTo>
                  <a:pt x="3618616" y="0"/>
                </a:lnTo>
                <a:lnTo>
                  <a:pt x="3618616" y="1391543"/>
                </a:lnTo>
                <a:lnTo>
                  <a:pt x="141764" y="1391543"/>
                </a:lnTo>
                <a:arcTo wR="141764" hR="141768" stAng="5400000" swAng="5400000"/>
                <a:lnTo>
                  <a:pt x="0" y="141768"/>
                </a:lnTo>
                <a:arcTo wR="141764" hR="141768" stAng="10800000" swAng="5400000"/>
                <a:close/>
              </a:path>
            </a:pathLst>
          </a:custGeom>
          <a:solidFill>
            <a:srgbClr val="FFCCD1"/>
          </a:solidFill>
          <a:ln/>
        </p:spPr>
      </p:sp>
      <p:sp>
        <p:nvSpPr>
          <p:cNvPr id="8" name="Text 6"/>
          <p:cNvSpPr/>
          <p:nvPr/>
        </p:nvSpPr>
        <p:spPr>
          <a:xfrm>
            <a:off x="856832" y="4157464"/>
            <a:ext cx="32406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Scope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856832" y="4566146"/>
            <a:ext cx="324060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Large-scale consumer loan dataset analysis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286440" y="3968452"/>
            <a:ext cx="3618715" cy="1391543"/>
          </a:xfrm>
          <a:prstGeom prst="rect">
            <a:avLst/>
          </a:prstGeom>
          <a:solidFill>
            <a:srgbClr val="FFCCD1"/>
          </a:solidFill>
          <a:ln/>
        </p:spPr>
      </p:sp>
      <p:sp>
        <p:nvSpPr>
          <p:cNvPr id="11" name="Shape 9"/>
          <p:cNvSpPr/>
          <p:nvPr/>
        </p:nvSpPr>
        <p:spPr>
          <a:xfrm>
            <a:off x="4286440" y="3968452"/>
            <a:ext cx="25399" cy="1391543"/>
          </a:xfrm>
          <a:prstGeom prst="roundRect">
            <a:avLst>
              <a:gd name="adj" fmla="val 50001"/>
            </a:avLst>
          </a:prstGeom>
          <a:solidFill>
            <a:srgbClr val="E5B2B7"/>
          </a:solidFill>
          <a:ln/>
        </p:spPr>
      </p:sp>
      <p:sp>
        <p:nvSpPr>
          <p:cNvPr id="12" name="Text 10"/>
          <p:cNvSpPr/>
          <p:nvPr/>
        </p:nvSpPr>
        <p:spPr>
          <a:xfrm>
            <a:off x="4475447" y="4157464"/>
            <a:ext cx="324070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Methods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4475447" y="4566146"/>
            <a:ext cx="324070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Advanced SQL techniques &amp; data auditing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905155" y="3968452"/>
            <a:ext cx="3618715" cy="1391543"/>
          </a:xfrm>
          <a:custGeom>
            <a:avLst/>
            <a:gdLst/>
            <a:ahLst/>
            <a:cxnLst/>
            <a:rect l="l" t="t" r="r" b="b"/>
            <a:pathLst>
              <a:path w="3618715" h="1391543">
                <a:moveTo>
                  <a:pt x="0" y="0"/>
                </a:moveTo>
                <a:lnTo>
                  <a:pt x="3476951" y="0"/>
                </a:lnTo>
                <a:arcTo wR="141764" hR="141768" stAng="16200000" swAng="5400000"/>
                <a:lnTo>
                  <a:pt x="3618715" y="1249775"/>
                </a:lnTo>
                <a:arcTo wR="141764" hR="141768" stAng="0" swAng="5400000"/>
                <a:lnTo>
                  <a:pt x="0" y="1391543"/>
                </a:lnTo>
                <a:lnTo>
                  <a:pt x="0" y="0"/>
                </a:lnTo>
                <a:close/>
              </a:path>
            </a:pathLst>
          </a:custGeom>
          <a:solidFill>
            <a:srgbClr val="FFCCD1"/>
          </a:solidFill>
          <a:ln/>
        </p:spPr>
      </p:sp>
      <p:sp>
        <p:nvSpPr>
          <p:cNvPr id="15" name="Shape 13"/>
          <p:cNvSpPr/>
          <p:nvPr/>
        </p:nvSpPr>
        <p:spPr>
          <a:xfrm>
            <a:off x="7905155" y="3968452"/>
            <a:ext cx="25399" cy="1391543"/>
          </a:xfrm>
          <a:prstGeom prst="roundRect">
            <a:avLst>
              <a:gd name="adj" fmla="val 50001"/>
            </a:avLst>
          </a:prstGeom>
          <a:solidFill>
            <a:srgbClr val="E5B2B7"/>
          </a:solidFill>
          <a:ln/>
        </p:spPr>
      </p:sp>
      <p:sp>
        <p:nvSpPr>
          <p:cNvPr id="16" name="Text 14"/>
          <p:cNvSpPr/>
          <p:nvPr/>
        </p:nvSpPr>
        <p:spPr>
          <a:xfrm>
            <a:off x="8094162" y="4157464"/>
            <a:ext cx="324070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Focus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8094162" y="4566146"/>
            <a:ext cx="324070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Regional trends, default risk &amp; portfolio health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56682" y="5578971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Presented by Mohit Kumar</a:t>
            </a:r>
            <a:r>
              <a:rPr lang="en-US" sz="14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Data Analyst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4013081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3645" y="523460"/>
            <a:ext cx="10224633" cy="172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Regional Customer Analysis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83532" y="713017"/>
            <a:ext cx="684402" cy="189821"/>
          </a:xfrm>
          <a:prstGeom prst="roundRect">
            <a:avLst>
              <a:gd name="adj" fmla="val 47441"/>
            </a:avLst>
          </a:prstGeom>
          <a:solidFill>
            <a:srgbClr val="FFCCD1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4" name="Text 2"/>
          <p:cNvSpPr/>
          <p:nvPr/>
        </p:nvSpPr>
        <p:spPr>
          <a:xfrm>
            <a:off x="1016669" y="746041"/>
            <a:ext cx="1032264" cy="50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QUESTION</a:t>
            </a:r>
            <a:r>
              <a:rPr lang="en-US" sz="9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43646" y="953195"/>
            <a:ext cx="5124619" cy="2793526"/>
          </a:xfrm>
          <a:prstGeom prst="roundRect">
            <a:avLst>
              <a:gd name="adj" fmla="val 5780"/>
            </a:avLst>
          </a:prstGeom>
          <a:solidFill>
            <a:srgbClr val="6B4423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6" name="Text 4"/>
          <p:cNvSpPr/>
          <p:nvPr/>
        </p:nvSpPr>
        <p:spPr>
          <a:xfrm>
            <a:off x="1016669" y="1100819"/>
            <a:ext cx="5014093" cy="234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98909" y="1336639"/>
            <a:ext cx="5014093" cy="2255232"/>
          </a:xfrm>
          <a:prstGeom prst="roundRect">
            <a:avLst>
              <a:gd name="adj" fmla="val 4596"/>
            </a:avLst>
          </a:prstGeom>
          <a:solidFill>
            <a:srgbClr val="785130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8" name="Text 6"/>
          <p:cNvSpPr/>
          <p:nvPr/>
        </p:nvSpPr>
        <p:spPr>
          <a:xfrm>
            <a:off x="1065186" y="1417836"/>
            <a:ext cx="4881540" cy="972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</a:p>
          <a:p>
            <a:pPr>
              <a:lnSpc>
                <a:spcPct val="133000"/>
              </a:lnSpc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sr.region,</a:t>
            </a:r>
          </a:p>
          <a:p>
            <a:pPr>
              <a:lnSpc>
                <a:spcPct val="133000"/>
              </a:lnSpc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COUNT(DISTINCT c.customer_id) AS total_customers,</a:t>
            </a:r>
          </a:p>
          <a:p>
            <a:pPr>
              <a:lnSpc>
                <a:spcPct val="133000"/>
              </a:lnSpc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ROUND(AVG(c.avg_cur_bal), 2) AS avg_financial_balance</a:t>
            </a:r>
          </a:p>
          <a:p>
            <a:pPr>
              <a:lnSpc>
                <a:spcPct val="133000"/>
              </a:lnSpc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 c</a:t>
            </a:r>
          </a:p>
          <a:p>
            <a:pPr>
              <a:lnSpc>
                <a:spcPct val="133000"/>
              </a:lnSpc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state_region sr </a:t>
            </a:r>
          </a:p>
          <a:p>
            <a:pPr>
              <a:lnSpc>
                <a:spcPct val="133000"/>
              </a:lnSpc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 c.addr_state = sr.state</a:t>
            </a:r>
          </a:p>
          <a:p>
            <a:pPr>
              <a:lnSpc>
                <a:spcPct val="133000"/>
              </a:lnSpc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sr.region IS NOT NULL</a:t>
            </a:r>
          </a:p>
          <a:p>
            <a:pPr>
              <a:lnSpc>
                <a:spcPct val="133000"/>
              </a:lnSpc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sr.region</a:t>
            </a:r>
          </a:p>
          <a:p>
            <a:pPr>
              <a:lnSpc>
                <a:spcPct val="133000"/>
              </a:lnSpc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total_customers DESC;</a:t>
            </a:r>
            <a:endParaRPr lang="en-US" sz="10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173" y="2219722"/>
            <a:ext cx="69055" cy="5526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78491" y="3591871"/>
            <a:ext cx="5388832" cy="59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endParaRPr lang="en-US" sz="4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r="11284" b="13553"/>
          <a:stretch>
            <a:fillRect/>
          </a:stretch>
        </p:blipFill>
        <p:spPr>
          <a:xfrm>
            <a:off x="983531" y="4003617"/>
            <a:ext cx="4554627" cy="1974444"/>
          </a:xfrm>
          <a:prstGeom prst="rect">
            <a:avLst/>
          </a:prstGeom>
        </p:spPr>
      </p:pic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571" y="1100819"/>
            <a:ext cx="5393048" cy="490113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983531" y="6098183"/>
            <a:ext cx="10224633" cy="124718"/>
          </a:xfrm>
          <a:prstGeom prst="roundRect">
            <a:avLst>
              <a:gd name="adj" fmla="val 39911"/>
            </a:avLst>
          </a:prstGeom>
          <a:solidFill>
            <a:srgbClr val="FFCCD1"/>
          </a:solidFill>
          <a:ln/>
        </p:spPr>
        <p:txBody>
          <a:bodyPr/>
          <a:lstStyle/>
          <a:p>
            <a:endParaRPr lang="en-GB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794" y="6131620"/>
            <a:ext cx="69055" cy="5526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63112" y="6131620"/>
            <a:ext cx="10599373" cy="59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Key Takeaway:</a:t>
            </a:r>
            <a:r>
              <a:rPr lang="en-US" sz="4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The South region leads with </a:t>
            </a:r>
            <a:r>
              <a:rPr lang="en-US" sz="400" b="1" dirty="0">
                <a:solidFill>
                  <a:srgbClr val="C85A3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97,683 customers</a:t>
            </a:r>
            <a:r>
              <a:rPr lang="en-US" sz="4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reflecting stronger lending demand and deeper market penetration. The West commands the highest average balance at $15,006.51, suggesting wealthier borrower profiles despite lower headcount.</a:t>
            </a:r>
            <a:endParaRPr lang="en-US" sz="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D341F2-9705-479D-5FF9-3E7577061B8A}"/>
              </a:ext>
            </a:extLst>
          </p:cNvPr>
          <p:cNvSpPr txBox="1"/>
          <p:nvPr/>
        </p:nvSpPr>
        <p:spPr>
          <a:xfrm>
            <a:off x="998909" y="3746156"/>
            <a:ext cx="6094562" cy="279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SQL Output</a:t>
            </a:r>
            <a:endParaRPr lang="en-US" sz="120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3531" y="782439"/>
            <a:ext cx="10224633" cy="316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Loan Approval Efficiency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83531" y="1229916"/>
            <a:ext cx="578927" cy="153491"/>
          </a:xfrm>
          <a:prstGeom prst="roundRect">
            <a:avLst>
              <a:gd name="adj" fmla="val 47440"/>
            </a:avLst>
          </a:prstGeom>
          <a:solidFill>
            <a:srgbClr val="FFCCD1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4" name="Text 2"/>
          <p:cNvSpPr/>
          <p:nvPr/>
        </p:nvSpPr>
        <p:spPr>
          <a:xfrm>
            <a:off x="1044152" y="1260177"/>
            <a:ext cx="1067269" cy="92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QUESTION 2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910706" y="1457325"/>
            <a:ext cx="5134640" cy="4235549"/>
          </a:xfrm>
          <a:prstGeom prst="roundRect">
            <a:avLst>
              <a:gd name="adj" fmla="val 3438"/>
            </a:avLst>
          </a:prstGeom>
          <a:solidFill>
            <a:srgbClr val="6B4423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6" name="Text 4"/>
          <p:cNvSpPr/>
          <p:nvPr/>
        </p:nvSpPr>
        <p:spPr>
          <a:xfrm>
            <a:off x="1011808" y="1523008"/>
            <a:ext cx="4932438" cy="157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SQL Query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011808" y="1754882"/>
            <a:ext cx="4932438" cy="2142927"/>
          </a:xfrm>
          <a:prstGeom prst="roundRect">
            <a:avLst>
              <a:gd name="adj" fmla="val 4247"/>
            </a:avLst>
          </a:prstGeom>
          <a:solidFill>
            <a:srgbClr val="785130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8" name="Text 6"/>
          <p:cNvSpPr/>
          <p:nvPr/>
        </p:nvSpPr>
        <p:spPr>
          <a:xfrm>
            <a:off x="1133149" y="1855986"/>
            <a:ext cx="4689755" cy="19407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</a:p>
          <a:p>
            <a:pPr>
              <a:lnSpc>
                <a:spcPct val="133000"/>
              </a:lnSpc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COUNT(loan_id) AS total_funded_loans,</a:t>
            </a:r>
          </a:p>
          <a:p>
            <a:pPr>
              <a:lnSpc>
                <a:spcPct val="133000"/>
              </a:lnSpc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SUM(CASE WHEN loan_status IN ('Fully Paid', 'Current') THEN 1 ELSE 0 END) AS successful_loans,</a:t>
            </a:r>
          </a:p>
          <a:p>
            <a:pPr>
              <a:lnSpc>
                <a:spcPct val="133000"/>
              </a:lnSpc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ROUND(</a:t>
            </a:r>
          </a:p>
          <a:p>
            <a:pPr>
              <a:lnSpc>
                <a:spcPct val="133000"/>
              </a:lnSpc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SUM(CASE WHEN loan_status IN ('Fully Paid', 'Current') THEN 1 ELSE 0 END) * 100.0 / COUNT(loan_id), </a:t>
            </a:r>
          </a:p>
          <a:p>
            <a:pPr>
              <a:lnSpc>
                <a:spcPct val="133000"/>
              </a:lnSpc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2</a:t>
            </a:r>
          </a:p>
          <a:p>
            <a:pPr>
              <a:lnSpc>
                <a:spcPct val="133000"/>
              </a:lnSpc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 AS success_rate_percentage</a:t>
            </a:r>
          </a:p>
          <a:p>
            <a:pPr>
              <a:lnSpc>
                <a:spcPct val="133000"/>
              </a:lnSpc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loan;</a:t>
            </a:r>
          </a:p>
        </p:txBody>
      </p:sp>
      <p:sp>
        <p:nvSpPr>
          <p:cNvPr id="9" name="Text 7"/>
          <p:cNvSpPr/>
          <p:nvPr/>
        </p:nvSpPr>
        <p:spPr>
          <a:xfrm>
            <a:off x="1011808" y="3971727"/>
            <a:ext cx="4932438" cy="157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Query Output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436255" y="4254103"/>
            <a:ext cx="1576249" cy="333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270K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011808" y="4687590"/>
            <a:ext cx="2425143" cy="157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Total Funded Loans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943549" y="4254103"/>
            <a:ext cx="1576249" cy="333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246K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519102" y="4687590"/>
            <a:ext cx="2425143" cy="157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Successful Loans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689852" y="5027513"/>
            <a:ext cx="1576249" cy="333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91.31%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265405" y="5461000"/>
            <a:ext cx="2425143" cy="157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Success Rate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25523" y="1523008"/>
            <a:ext cx="4988991" cy="157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Portfolio Performance — Performing vs. Non-Performing</a:t>
            </a:r>
            <a:endParaRPr lang="en-US" sz="95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5523" y="1754882"/>
            <a:ext cx="4833328" cy="2832993"/>
          </a:xfrm>
          <a:prstGeom prst="rect">
            <a:avLst/>
          </a:prstGeom>
        </p:spPr>
      </p:pic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 t="8792" r="16101" b="54821"/>
          <a:stretch>
            <a:fillRect/>
          </a:stretch>
        </p:blipFill>
        <p:spPr>
          <a:xfrm>
            <a:off x="6225523" y="4416724"/>
            <a:ext cx="4530222" cy="1317279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983531" y="5766792"/>
            <a:ext cx="10224633" cy="308670"/>
          </a:xfrm>
          <a:prstGeom prst="roundRect">
            <a:avLst>
              <a:gd name="adj" fmla="val 29488"/>
            </a:avLst>
          </a:prstGeom>
          <a:solidFill>
            <a:srgbClr val="FFCCD1"/>
          </a:solidFill>
          <a:ln/>
        </p:spPr>
        <p:txBody>
          <a:bodyPr/>
          <a:lstStyle/>
          <a:p>
            <a:endParaRPr lang="en-GB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4632" y="5864423"/>
            <a:ext cx="126402" cy="10110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12135" y="5857677"/>
            <a:ext cx="10404512" cy="133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Key Takeaway:</a:t>
            </a:r>
            <a:r>
              <a:rPr lang="en-US" sz="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With a </a:t>
            </a:r>
            <a:r>
              <a:rPr lang="en-US" sz="750" b="1" dirty="0">
                <a:solidFill>
                  <a:srgbClr val="C85A3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91.31% success rate</a:t>
            </a:r>
            <a:r>
              <a:rPr lang="en-US" sz="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across 270K+ loans, the portfolio demonstrates strong repayment discipline and limited default exposure — a foundational metric for credit health benchmarking.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3531" y="834430"/>
            <a:ext cx="10224633" cy="316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High Default Risk Identification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83531" y="1281906"/>
            <a:ext cx="580118" cy="153491"/>
          </a:xfrm>
          <a:prstGeom prst="roundRect">
            <a:avLst>
              <a:gd name="adj" fmla="val 47440"/>
            </a:avLst>
          </a:prstGeom>
          <a:solidFill>
            <a:srgbClr val="FFCCD1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4" name="Text 2"/>
          <p:cNvSpPr/>
          <p:nvPr/>
        </p:nvSpPr>
        <p:spPr>
          <a:xfrm>
            <a:off x="1044152" y="1312168"/>
            <a:ext cx="1068460" cy="92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QUESTION 3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910706" y="1509316"/>
            <a:ext cx="5134640" cy="4131667"/>
          </a:xfrm>
          <a:prstGeom prst="roundRect">
            <a:avLst>
              <a:gd name="adj" fmla="val 3525"/>
            </a:avLst>
          </a:prstGeom>
          <a:solidFill>
            <a:srgbClr val="6B4423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6" name="Text 4"/>
          <p:cNvSpPr/>
          <p:nvPr/>
        </p:nvSpPr>
        <p:spPr>
          <a:xfrm>
            <a:off x="1011808" y="1574998"/>
            <a:ext cx="4932438" cy="157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SQL Query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011807" y="1733456"/>
            <a:ext cx="4932438" cy="3897107"/>
          </a:xfrm>
          <a:prstGeom prst="roundRect">
            <a:avLst>
              <a:gd name="adj" fmla="val 2421"/>
            </a:avLst>
          </a:prstGeom>
          <a:solidFill>
            <a:srgbClr val="785130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8" name="Text 6"/>
          <p:cNvSpPr/>
          <p:nvPr/>
        </p:nvSpPr>
        <p:spPr>
          <a:xfrm>
            <a:off x="1133149" y="1796157"/>
            <a:ext cx="4689755" cy="3557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</a:p>
          <a:p>
            <a:pPr>
              <a:lnSpc>
                <a:spcPct val="133000"/>
              </a:lnSpc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l.loan_id,</a:t>
            </a:r>
          </a:p>
          <a:p>
            <a:pPr>
              <a:lnSpc>
                <a:spcPct val="133000"/>
              </a:lnSpc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c.customer_id,</a:t>
            </a:r>
          </a:p>
          <a:p>
            <a:pPr>
              <a:lnSpc>
                <a:spcPct val="133000"/>
              </a:lnSpc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l.grade,</a:t>
            </a:r>
          </a:p>
          <a:p>
            <a:pPr>
              <a:lnSpc>
                <a:spcPct val="133000"/>
              </a:lnSpc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c.annual_inc,</a:t>
            </a:r>
          </a:p>
          <a:p>
            <a:pPr>
              <a:lnSpc>
                <a:spcPct val="133000"/>
              </a:lnSpc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l.loan_amount,</a:t>
            </a:r>
          </a:p>
          <a:p>
            <a:pPr>
              <a:lnSpc>
                <a:spcPct val="133000"/>
              </a:lnSpc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c.avg_cur_bal AS proxy_credit_health,</a:t>
            </a:r>
          </a:p>
          <a:p>
            <a:pPr>
              <a:lnSpc>
                <a:spcPct val="133000"/>
              </a:lnSpc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</a:t>
            </a:r>
          </a:p>
          <a:p>
            <a:pPr>
              <a:lnSpc>
                <a:spcPct val="133000"/>
              </a:lnSpc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WHEN l.loan_amount &gt; (c.annual_inc * 0.4) THEN 'Critical Risk: High Debt-to-Income'</a:t>
            </a:r>
          </a:p>
          <a:p>
            <a:pPr>
              <a:lnSpc>
                <a:spcPct val="133000"/>
              </a:lnSpc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WHEN c.avg_cur_bal &lt; 3000 AND l.loan_amount &gt; 20000 THEN 'High Risk: Over-leveraged'</a:t>
            </a:r>
          </a:p>
          <a:p>
            <a:pPr>
              <a:lnSpc>
                <a:spcPct val="133000"/>
              </a:lnSpc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WHEN l.grade IN ('E', 'F', 'G') THEN 'High Risk: Poor Bank Grade'</a:t>
            </a:r>
          </a:p>
          <a:p>
            <a:pPr>
              <a:lnSpc>
                <a:spcPct val="133000"/>
              </a:lnSpc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 'Monitor' </a:t>
            </a:r>
          </a:p>
          <a:p>
            <a:pPr>
              <a:lnSpc>
                <a:spcPct val="133000"/>
              </a:lnSpc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 AS risk_category</a:t>
            </a:r>
          </a:p>
          <a:p>
            <a:pPr>
              <a:lnSpc>
                <a:spcPct val="133000"/>
              </a:lnSpc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loan l</a:t>
            </a:r>
          </a:p>
          <a:p>
            <a:pPr>
              <a:lnSpc>
                <a:spcPct val="133000"/>
              </a:lnSpc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customer c ON l.customer_id = c.customer_id</a:t>
            </a:r>
          </a:p>
          <a:p>
            <a:pPr>
              <a:lnSpc>
                <a:spcPct val="133000"/>
              </a:lnSpc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</a:t>
            </a:r>
          </a:p>
          <a:p>
            <a:pPr>
              <a:lnSpc>
                <a:spcPct val="133000"/>
              </a:lnSpc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(l.loan_amount &gt; 20000 AND c.annual_inc &lt; 45000 AND c.avg_cur_bal &lt; 3000)</a:t>
            </a:r>
          </a:p>
          <a:p>
            <a:pPr>
              <a:lnSpc>
                <a:spcPct val="133000"/>
              </a:lnSpc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 l.loan_amount &gt; (c.annual_inc * 0.4)</a:t>
            </a:r>
          </a:p>
          <a:p>
            <a:pPr>
              <a:lnSpc>
                <a:spcPct val="133000"/>
              </a:lnSpc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l.loan_amount DESC;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225523" y="1574998"/>
            <a:ext cx="4988991" cy="157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Risk Classification Framework</a:t>
            </a:r>
            <a:endParaRPr lang="en-US" sz="9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25523" y="1806873"/>
            <a:ext cx="4988991" cy="72449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390123" y="1920677"/>
            <a:ext cx="471059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🔴</a:t>
            </a:r>
            <a:r>
              <a:rPr lang="en-US" sz="9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Critical Risk: High Debt-to-Income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390123" y="2150666"/>
            <a:ext cx="4710590" cy="266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Loan amount exceeds </a:t>
            </a:r>
            <a:r>
              <a:rPr lang="en-US" sz="75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40% of annual income</a:t>
            </a:r>
            <a:r>
              <a:rPr lang="en-US" sz="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Borrowers at this threshold show significantly elevated default probability and require immediate underwriting review.</a:t>
            </a:r>
            <a:endParaRPr lang="en-US" sz="7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25523" y="2597051"/>
            <a:ext cx="4988991" cy="72449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390123" y="2710855"/>
            <a:ext cx="471059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🟠</a:t>
            </a:r>
            <a:r>
              <a:rPr lang="en-US" sz="9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High Risk: Over-Leveraged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6390123" y="2940844"/>
            <a:ext cx="4710590" cy="266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Loan amounts </a:t>
            </a:r>
            <a:r>
              <a:rPr lang="en-US" sz="75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&gt;$20K</a:t>
            </a:r>
            <a:r>
              <a:rPr lang="en-US" sz="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combined with avg balance </a:t>
            </a:r>
            <a:r>
              <a:rPr lang="en-US" sz="75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&lt;$3K</a:t>
            </a:r>
            <a:r>
              <a:rPr lang="en-US" sz="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annual income </a:t>
            </a:r>
            <a:r>
              <a:rPr lang="en-US" sz="75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&lt;$45K</a:t>
            </a:r>
            <a:r>
              <a:rPr lang="en-US" sz="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indicate an unsustainable debt burden with minimal liquidity buffer.</a:t>
            </a:r>
            <a:endParaRPr lang="en-US" sz="75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25523" y="3387229"/>
            <a:ext cx="4988991" cy="72449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90123" y="3501033"/>
            <a:ext cx="471059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🟡</a:t>
            </a:r>
            <a:r>
              <a:rPr lang="en-US" sz="9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High Risk: Poor Bank Grade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6390123" y="3731022"/>
            <a:ext cx="4710590" cy="266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Credit grades </a:t>
            </a:r>
            <a:r>
              <a:rPr lang="en-US" sz="750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E, F, G</a:t>
            </a:r>
            <a:r>
              <a:rPr lang="en-US" sz="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correlate with elevated historical default rates. Grade-based segmentation enables tiered monitoring and early intervention triggers.</a:t>
            </a:r>
            <a:endParaRPr lang="en-US" sz="75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185641"/>
            <a:ext cx="5620648" cy="128032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983531" y="5714901"/>
            <a:ext cx="10224633" cy="308670"/>
          </a:xfrm>
          <a:prstGeom prst="roundRect">
            <a:avLst>
              <a:gd name="adj" fmla="val 29488"/>
            </a:avLst>
          </a:prstGeom>
          <a:solidFill>
            <a:srgbClr val="FFCCD1"/>
          </a:solidFill>
          <a:ln/>
        </p:spPr>
        <p:txBody>
          <a:bodyPr/>
          <a:lstStyle/>
          <a:p>
            <a:endParaRPr lang="en-GB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4632" y="5812532"/>
            <a:ext cx="126402" cy="10110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12135" y="5805785"/>
            <a:ext cx="10404512" cy="133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Key Takeaway:</a:t>
            </a:r>
            <a:r>
              <a:rPr lang="en-US" sz="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Weak credit quality combined with high loan exposure </a:t>
            </a:r>
            <a:r>
              <a:rPr lang="en-US" sz="750" b="1" dirty="0">
                <a:solidFill>
                  <a:srgbClr val="C85A3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significantly increases default probability</a:t>
            </a:r>
            <a:r>
              <a:rPr lang="en-US" sz="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Proactive monitoring across all three risk tiers is essential for portfolio protection.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3531" y="631428"/>
            <a:ext cx="10224633" cy="316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Top 5 States by Loan Success Rate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83531" y="1078905"/>
            <a:ext cx="581407" cy="153491"/>
          </a:xfrm>
          <a:prstGeom prst="roundRect">
            <a:avLst>
              <a:gd name="adj" fmla="val 47440"/>
            </a:avLst>
          </a:prstGeom>
          <a:solidFill>
            <a:srgbClr val="FFCCD1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4" name="Text 2"/>
          <p:cNvSpPr/>
          <p:nvPr/>
        </p:nvSpPr>
        <p:spPr>
          <a:xfrm>
            <a:off x="1044152" y="1109166"/>
            <a:ext cx="1069750" cy="92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QUESTION 4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910706" y="1306314"/>
            <a:ext cx="4611076" cy="4537670"/>
          </a:xfrm>
          <a:prstGeom prst="roundRect">
            <a:avLst>
              <a:gd name="adj" fmla="val 3209"/>
            </a:avLst>
          </a:prstGeom>
          <a:solidFill>
            <a:srgbClr val="6B4423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6" name="Text 4"/>
          <p:cNvSpPr/>
          <p:nvPr/>
        </p:nvSpPr>
        <p:spPr>
          <a:xfrm>
            <a:off x="1011808" y="1371997"/>
            <a:ext cx="4408873" cy="157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SQL Query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011808" y="1603870"/>
            <a:ext cx="4408873" cy="4077097"/>
          </a:xfrm>
          <a:prstGeom prst="roundRect">
            <a:avLst>
              <a:gd name="adj" fmla="val 3690"/>
            </a:avLst>
          </a:prstGeom>
          <a:solidFill>
            <a:srgbClr val="785130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8" name="Text 6"/>
          <p:cNvSpPr/>
          <p:nvPr/>
        </p:nvSpPr>
        <p:spPr>
          <a:xfrm>
            <a:off x="1133149" y="1704975"/>
            <a:ext cx="4166190" cy="3630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</a:p>
          <a:p>
            <a:pPr>
              <a:lnSpc>
                <a:spcPct val="133000"/>
              </a:lnSpc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state,</a:t>
            </a:r>
          </a:p>
          <a:p>
            <a:pPr>
              <a:lnSpc>
                <a:spcPct val="133000"/>
              </a:lnSpc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COUNT(loan_id) AS total_loans,</a:t>
            </a:r>
          </a:p>
          <a:p>
            <a:pPr>
              <a:lnSpc>
                <a:spcPct val="133000"/>
              </a:lnSpc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ROUND(AVG(loan_amount), 2) AS avg_loan_amount,</a:t>
            </a:r>
          </a:p>
          <a:p>
            <a:pPr>
              <a:lnSpc>
                <a:spcPct val="133000"/>
              </a:lnSpc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ROUND(SUM(CASE WHEN loan_status IN ('Fully Paid', 'Current') THEN 1 ELSE 0 END) * 100.0 / COUNT(loan_id), 2) AS success_rate_percentage</a:t>
            </a:r>
          </a:p>
          <a:p>
            <a:pPr>
              <a:lnSpc>
                <a:spcPct val="133000"/>
              </a:lnSpc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loan</a:t>
            </a:r>
          </a:p>
          <a:p>
            <a:pPr>
              <a:lnSpc>
                <a:spcPct val="133000"/>
              </a:lnSpc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state</a:t>
            </a:r>
          </a:p>
          <a:p>
            <a:pPr>
              <a:lnSpc>
                <a:spcPct val="133000"/>
              </a:lnSpc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total_loans &gt; 500 -- Filters out states with too little data to avoid fake 100% rates</a:t>
            </a:r>
          </a:p>
          <a:p>
            <a:pPr>
              <a:lnSpc>
                <a:spcPct val="133000"/>
              </a:lnSpc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success_rate_percentage DESC</a:t>
            </a:r>
          </a:p>
          <a:p>
            <a:pPr>
              <a:lnSpc>
                <a:spcPct val="133000"/>
              </a:lnSpc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5;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701959" y="1371997"/>
            <a:ext cx="5512555" cy="157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Success Rate by State (Top 5)</a:t>
            </a:r>
            <a:endParaRPr lang="en-US" sz="9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1959" y="1603871"/>
            <a:ext cx="4825496" cy="2878764"/>
          </a:xfrm>
          <a:prstGeom prst="rect">
            <a:avLst/>
          </a:prstGeom>
        </p:spPr>
      </p:pic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1959" y="4531866"/>
            <a:ext cx="4825497" cy="1349077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983531" y="5917902"/>
            <a:ext cx="10224633" cy="308670"/>
          </a:xfrm>
          <a:prstGeom prst="roundRect">
            <a:avLst>
              <a:gd name="adj" fmla="val 29488"/>
            </a:avLst>
          </a:prstGeom>
          <a:solidFill>
            <a:srgbClr val="FFCCD1"/>
          </a:solidFill>
          <a:ln/>
        </p:spPr>
        <p:txBody>
          <a:bodyPr/>
          <a:lstStyle/>
          <a:p>
            <a:endParaRPr lang="en-GB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4632" y="6015534"/>
            <a:ext cx="126402" cy="10110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12135" y="6008787"/>
            <a:ext cx="10404512" cy="133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Key Takeaway:</a:t>
            </a:r>
            <a:r>
              <a:rPr lang="en-US" sz="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750" b="1" dirty="0">
                <a:solidFill>
                  <a:srgbClr val="C85A3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Maine (96.21%) and Idaho (96.10%)</a:t>
            </a:r>
            <a:r>
              <a:rPr lang="en-US" sz="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lead all states with &gt;500 loans — regional policy environment and borrower demographic profiles appear to be the primary performance drivers.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3531" y="658912"/>
            <a:ext cx="10224633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Yearly Loan Growth Trends — Car Loans</a:t>
            </a:r>
            <a:endParaRPr lang="en-US" sz="1550" dirty="0"/>
          </a:p>
        </p:txBody>
      </p:sp>
      <p:sp>
        <p:nvSpPr>
          <p:cNvPr id="3" name="Shape 1"/>
          <p:cNvSpPr/>
          <p:nvPr/>
        </p:nvSpPr>
        <p:spPr>
          <a:xfrm>
            <a:off x="983531" y="994172"/>
            <a:ext cx="463241" cy="122337"/>
          </a:xfrm>
          <a:prstGeom prst="roundRect">
            <a:avLst>
              <a:gd name="adj" fmla="val 47431"/>
            </a:avLst>
          </a:prstGeom>
          <a:solidFill>
            <a:srgbClr val="FFCCD1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4" name="Text 2"/>
          <p:cNvSpPr/>
          <p:nvPr/>
        </p:nvSpPr>
        <p:spPr>
          <a:xfrm>
            <a:off x="1031849" y="1018282"/>
            <a:ext cx="976189" cy="74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QUESTION 5</a:t>
            </a:r>
            <a:endParaRPr lang="en-US" sz="500" dirty="0"/>
          </a:p>
        </p:txBody>
      </p:sp>
      <p:sp>
        <p:nvSpPr>
          <p:cNvPr id="5" name="Shape 3"/>
          <p:cNvSpPr/>
          <p:nvPr/>
        </p:nvSpPr>
        <p:spPr>
          <a:xfrm>
            <a:off x="925589" y="1163439"/>
            <a:ext cx="4296263" cy="4771430"/>
          </a:xfrm>
          <a:prstGeom prst="roundRect">
            <a:avLst>
              <a:gd name="adj" fmla="val 2701"/>
            </a:avLst>
          </a:prstGeom>
          <a:solidFill>
            <a:srgbClr val="6B4423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6" name="Text 4"/>
          <p:cNvSpPr/>
          <p:nvPr/>
        </p:nvSpPr>
        <p:spPr>
          <a:xfrm>
            <a:off x="1006152" y="1205111"/>
            <a:ext cx="4135136" cy="125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SQL Query (CTE with LAG Window Function)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006152" y="1377851"/>
            <a:ext cx="4135136" cy="4485977"/>
          </a:xfrm>
          <a:prstGeom prst="roundRect">
            <a:avLst>
              <a:gd name="adj" fmla="val 1992"/>
            </a:avLst>
          </a:prstGeom>
          <a:solidFill>
            <a:srgbClr val="785130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8" name="Text 6"/>
          <p:cNvSpPr/>
          <p:nvPr/>
        </p:nvSpPr>
        <p:spPr>
          <a:xfrm>
            <a:off x="1102789" y="1458416"/>
            <a:ext cx="3941862" cy="34798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Yearly_Trends AS (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CAST(issue_year AS UNSIGNED)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AS issue_year,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purpose,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COUNT(loan_id) AS total_loans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loan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issue_year IS NOT NULL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AND purpose = 'car'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 BY issue_year, purpose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issue_year, purpose,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total_loans,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LAG(total_loans) OVER (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PARTITION BY purpose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 BY issue_year)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 prev_year_loans,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ROUND((total_loans -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LAG(total_loans) OVER (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PARTITION BY purpose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ORDER BY issue_year))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* 100.0 / LAG(total_loans) OVER (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PARTITION BY purpose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ORDER BY issue_year), 2)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 growth_percentage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Yearly_Trends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issue_year ASC;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366707" y="1205111"/>
            <a:ext cx="5847708" cy="125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Car Loan Volume &amp; YoY Growth (2012–2018)</a:t>
            </a:r>
            <a:endParaRPr lang="en-US" sz="7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6707" y="1377851"/>
            <a:ext cx="4215443" cy="28191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983531" y="5981799"/>
            <a:ext cx="10224633" cy="217289"/>
          </a:xfrm>
          <a:prstGeom prst="roundRect">
            <a:avLst>
              <a:gd name="adj" fmla="val 33380"/>
            </a:avLst>
          </a:prstGeom>
          <a:solidFill>
            <a:srgbClr val="FFCCD1"/>
          </a:solidFill>
          <a:ln/>
        </p:spPr>
        <p:txBody>
          <a:bodyPr/>
          <a:lstStyle/>
          <a:p>
            <a:endParaRPr lang="en-GB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094" y="6043613"/>
            <a:ext cx="100705" cy="8056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45363" y="6043613"/>
            <a:ext cx="10491823" cy="97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6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Key Takeaway:</a:t>
            </a:r>
            <a:r>
              <a:rPr lang="en-US" sz="6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Car loans surged </a:t>
            </a:r>
            <a:r>
              <a:rPr lang="en-US" sz="600" b="1" dirty="0">
                <a:solidFill>
                  <a:srgbClr val="C85A3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+158.54% YoY in 2013</a:t>
            </a:r>
            <a:r>
              <a:rPr lang="en-US" sz="6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sustaining double-digit growth through 2017 before a -18.83% contraction in 2018 — signaling a market saturation inflection point worth monitoring in origination strategy.</a:t>
            </a:r>
            <a:endParaRPr lang="en-US" sz="6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F5922FB-4FB8-AC0E-390F-CC08A4F260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6706" y="4312668"/>
            <a:ext cx="5157519" cy="15511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3531" y="715764"/>
            <a:ext cx="768529" cy="200720"/>
          </a:xfrm>
          <a:prstGeom prst="roundRect">
            <a:avLst>
              <a:gd name="adj" fmla="val 47440"/>
            </a:avLst>
          </a:prstGeom>
          <a:solidFill>
            <a:srgbClr val="FFCCD1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3" name="Text 1"/>
          <p:cNvSpPr/>
          <p:nvPr/>
        </p:nvSpPr>
        <p:spPr>
          <a:xfrm>
            <a:off x="1062805" y="755352"/>
            <a:ext cx="1219566" cy="121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QUESTION 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83531" y="961430"/>
            <a:ext cx="10224633" cy="413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Average Loans Per Customer &amp; Repayment History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88283" y="1543248"/>
            <a:ext cx="5141486" cy="4598888"/>
          </a:xfrm>
          <a:prstGeom prst="roundRect">
            <a:avLst>
              <a:gd name="adj" fmla="val 4141"/>
            </a:avLst>
          </a:prstGeom>
          <a:solidFill>
            <a:srgbClr val="6B4423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6" name="Text 4"/>
          <p:cNvSpPr/>
          <p:nvPr/>
        </p:nvSpPr>
        <p:spPr>
          <a:xfrm>
            <a:off x="1020439" y="1655663"/>
            <a:ext cx="4877174" cy="247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SQL Query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1020439" y="2029916"/>
            <a:ext cx="4877174" cy="1956594"/>
          </a:xfrm>
          <a:prstGeom prst="roundRect">
            <a:avLst>
              <a:gd name="adj" fmla="val 6083"/>
            </a:avLst>
          </a:prstGeom>
          <a:solidFill>
            <a:srgbClr val="785130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8" name="Text 6"/>
          <p:cNvSpPr/>
          <p:nvPr/>
        </p:nvSpPr>
        <p:spPr>
          <a:xfrm>
            <a:off x="1179086" y="2162076"/>
            <a:ext cx="4559880" cy="1692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COUNT(loan_id) AS total_loans_issued, COUNT(DISTINCT customer_id) AS total_unique_customers, ROUND(COUNT(loan_id) * 1.0 / COUNT(DISTINCT customer_id), 2) AS avg_loans_per_customer FROM loan;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loan_status AS repayment_status, COUNT(loan_id) AS total_loans, ROUND(COUNT(loan_id) * 100.0 / (SELECT COUNT(*) FROM loan), 2) AS portfolio_percentage FROM loan GROUP BY loan_status ORDER BY total_loans DESC;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63523" y="1655663"/>
            <a:ext cx="4950991" cy="247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Query Output</a:t>
            </a:r>
            <a:endParaRPr lang="en-US" sz="15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523" y="2029916"/>
          <a:ext cx="4950992" cy="2789170"/>
        </p:xfrm>
        <a:graphic>
          <a:graphicData uri="http://schemas.openxmlformats.org/drawingml/2006/table">
            <a:tbl>
              <a:tblPr/>
              <a:tblGrid>
                <a:gridCol w="2475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77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77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62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Repayment Status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32252" marR="132252" marT="6350" marB="6350" anchor="ctr">
                    <a:lnL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5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Total Loans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32252" marR="132252" marT="6350" marB="6350" anchor="ctr">
                    <a:lnL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5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Portfolio %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32252" marR="132252" marT="6350" marB="6350" anchor="ctr">
                    <a:lnL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5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Current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32252" marR="132252" marT="6350" marB="6350" anchor="ctr">
                    <a:lnL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170,461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32252" marR="132252" marT="6350" marB="6350" anchor="ctr">
                    <a:lnL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63.06%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32252" marR="132252" marT="6350" marB="6350" anchor="ctr">
                    <a:lnL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Fully Paid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32252" marR="132252" marT="6350" marB="6350" anchor="ctr">
                    <a:lnL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76,361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32252" marR="132252" marT="6350" marB="6350" anchor="ctr">
                    <a:lnL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28.25%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32252" marR="132252" marT="6350" marB="6350" anchor="ctr">
                    <a:lnL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Charged Off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32252" marR="132252" marT="6350" marB="6350" anchor="ctr">
                    <a:lnL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17,851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32252" marR="132252" marT="6350" marB="6350" anchor="ctr">
                    <a:lnL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6.60%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32252" marR="132252" marT="6350" marB="6350" anchor="ctr">
                    <a:lnL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Late (31-120 days)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32252" marR="132252" marT="6350" marB="6350" anchor="ctr">
                    <a:lnL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3,174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32252" marR="132252" marT="6350" marB="6350" anchor="ctr">
                    <a:lnL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1.17%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32252" marR="132252" marT="6350" marB="6350" anchor="ctr">
                    <a:lnL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 Grace Period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32252" marR="132252" marT="6350" marB="6350" anchor="ctr">
                    <a:lnL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1,638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32252" marR="132252" marT="6350" marB="6350" anchor="ctr">
                    <a:lnL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0.61%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32252" marR="132252" marT="6350" marB="6350" anchor="ctr">
                    <a:lnL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Late (16-30 days)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32252" marR="132252" marT="6350" marB="6350" anchor="ctr">
                    <a:lnL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802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32252" marR="132252" marT="6350" marB="6350" anchor="ctr">
                    <a:lnL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0.30%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32252" marR="132252" marT="6350" marB="6350" anchor="ctr">
                    <a:lnL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62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Default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32252" marR="132252" marT="6350" marB="6350" anchor="ctr">
                    <a:lnL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12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32252" marR="132252" marT="6350" marB="6350" anchor="ctr">
                    <a:lnL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0.00%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32252" marR="132252" marT="6350" marB="6350" anchor="ctr">
                    <a:lnL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B2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263523" y="4958259"/>
            <a:ext cx="4950991" cy="1057473"/>
          </a:xfrm>
          <a:prstGeom prst="roundRect">
            <a:avLst>
              <a:gd name="adj" fmla="val 11256"/>
            </a:avLst>
          </a:prstGeom>
          <a:solidFill>
            <a:srgbClr val="FFCCD1"/>
          </a:solidFill>
          <a:ln/>
        </p:spPr>
        <p:txBody>
          <a:bodyPr/>
          <a:lstStyle/>
          <a:p>
            <a:endParaRPr lang="en-GB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5679" y="5127724"/>
            <a:ext cx="165294" cy="13215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93129" y="5092402"/>
            <a:ext cx="4389228" cy="789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3000"/>
              </a:lnSpc>
              <a:spcAft>
                <a:spcPts val="750"/>
              </a:spcAft>
              <a:buNone/>
            </a:pPr>
            <a:r>
              <a:rPr lang="en-US" sz="1000" b="1" dirty="0">
                <a:solidFill>
                  <a:srgbClr val="C85A3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Total Loans Issued:</a:t>
            </a:r>
            <a:r>
              <a:rPr lang="en-US" sz="10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270,299</a:t>
            </a:r>
            <a:endParaRPr lang="en-US" sz="1000" dirty="0"/>
          </a:p>
          <a:p>
            <a:pPr marL="0" indent="0" algn="l">
              <a:lnSpc>
                <a:spcPct val="123000"/>
              </a:lnSpc>
              <a:spcAft>
                <a:spcPts val="750"/>
              </a:spcAft>
              <a:buNone/>
            </a:pPr>
            <a:r>
              <a:rPr lang="en-US" sz="1000" b="1" dirty="0">
                <a:solidFill>
                  <a:srgbClr val="C85A3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Total Unique Customers:</a:t>
            </a:r>
            <a:r>
              <a:rPr lang="en-US" sz="10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225,000 (approx)</a:t>
            </a:r>
            <a:endParaRPr lang="en-US" sz="10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000" b="1" dirty="0">
                <a:solidFill>
                  <a:srgbClr val="C85A3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Avg Loans Per Customer:</a:t>
            </a:r>
            <a:r>
              <a:rPr lang="en-US" sz="10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1.20</a:t>
            </a:r>
            <a:endParaRPr lang="en-US" sz="10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035C166-2624-B87E-159C-5192EEA0FA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085" y="4234311"/>
            <a:ext cx="4367699" cy="18470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3531" y="740866"/>
            <a:ext cx="10224633" cy="340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Average Interest Rate by Category &amp; Region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983531" y="1233587"/>
            <a:ext cx="628138" cy="165398"/>
          </a:xfrm>
          <a:prstGeom prst="roundRect">
            <a:avLst>
              <a:gd name="adj" fmla="val 47412"/>
            </a:avLst>
          </a:prstGeom>
          <a:solidFill>
            <a:srgbClr val="FFCCD1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4" name="Text 2"/>
          <p:cNvSpPr/>
          <p:nvPr/>
        </p:nvSpPr>
        <p:spPr>
          <a:xfrm>
            <a:off x="1048815" y="1266230"/>
            <a:ext cx="1107154" cy="100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QUESTION 7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905051" y="1484709"/>
            <a:ext cx="4087313" cy="4726310"/>
          </a:xfrm>
          <a:prstGeom prst="roundRect">
            <a:avLst>
              <a:gd name="adj" fmla="val 3871"/>
            </a:avLst>
          </a:prstGeom>
          <a:solidFill>
            <a:srgbClr val="6B4423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6" name="Text 4"/>
          <p:cNvSpPr/>
          <p:nvPr/>
        </p:nvSpPr>
        <p:spPr>
          <a:xfrm>
            <a:off x="1013891" y="1560909"/>
            <a:ext cx="3869633" cy="17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SQL Query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13891" y="1816795"/>
            <a:ext cx="3869633" cy="4394224"/>
          </a:xfrm>
          <a:prstGeom prst="roundRect">
            <a:avLst>
              <a:gd name="adj" fmla="val 7761"/>
            </a:avLst>
          </a:prstGeom>
          <a:solidFill>
            <a:srgbClr val="785130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8" name="Text 6"/>
          <p:cNvSpPr/>
          <p:nvPr/>
        </p:nvSpPr>
        <p:spPr>
          <a:xfrm>
            <a:off x="1144559" y="1925637"/>
            <a:ext cx="3608297" cy="2819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</a:p>
          <a:p>
            <a:pPr>
              <a:lnSpc>
                <a:spcPct val="133000"/>
              </a:lnSpc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sr.region,</a:t>
            </a:r>
          </a:p>
          <a:p>
            <a:pPr>
              <a:lnSpc>
                <a:spcPct val="133000"/>
              </a:lnSpc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l.purpose AS loan_category,</a:t>
            </a:r>
          </a:p>
          <a:p>
            <a:pPr>
              <a:lnSpc>
                <a:spcPct val="133000"/>
              </a:lnSpc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COUNT(l.loan_id) AS total_loans,</a:t>
            </a:r>
          </a:p>
          <a:p>
            <a:pPr>
              <a:lnSpc>
                <a:spcPct val="133000"/>
              </a:lnSpc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ROUND(AVG(l.int_rate * 100), 2) AS avg_interest_rate_pct</a:t>
            </a:r>
          </a:p>
          <a:p>
            <a:pPr>
              <a:lnSpc>
                <a:spcPct val="133000"/>
              </a:lnSpc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loan l</a:t>
            </a:r>
          </a:p>
          <a:p>
            <a:pPr>
              <a:lnSpc>
                <a:spcPct val="133000"/>
              </a:lnSpc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state_region sr </a:t>
            </a:r>
          </a:p>
          <a:p>
            <a:pPr>
              <a:lnSpc>
                <a:spcPct val="133000"/>
              </a:lnSpc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 l.state = sr.state</a:t>
            </a:r>
          </a:p>
          <a:p>
            <a:pPr>
              <a:lnSpc>
                <a:spcPct val="133000"/>
              </a:lnSpc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sr.region IS NOT NULL</a:t>
            </a:r>
          </a:p>
          <a:p>
            <a:pPr>
              <a:lnSpc>
                <a:spcPct val="133000"/>
              </a:lnSpc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sr.region, l.purpose</a:t>
            </a:r>
          </a:p>
          <a:p>
            <a:pPr>
              <a:lnSpc>
                <a:spcPct val="133000"/>
              </a:lnSpc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sr.region ASC, avg_interest_rate_pct DESC;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185935" y="1560909"/>
            <a:ext cx="6028480" cy="17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Avg Interest Rate by Loan Category &amp; Region</a:t>
            </a:r>
            <a:endParaRPr lang="en-US" sz="10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5935" y="1816795"/>
            <a:ext cx="5992174" cy="346466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185935" y="5411192"/>
            <a:ext cx="2976091" cy="773013"/>
          </a:xfrm>
          <a:prstGeom prst="roundRect">
            <a:avLst>
              <a:gd name="adj" fmla="val 12681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blurRad="127" dist="1397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14" name="Text 10"/>
          <p:cNvSpPr/>
          <p:nvPr/>
        </p:nvSpPr>
        <p:spPr>
          <a:xfrm>
            <a:off x="5242438" y="5502523"/>
            <a:ext cx="2745711" cy="17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Highest Risk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242438" y="5725020"/>
            <a:ext cx="2745711" cy="296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Personal loans carry 8.45% avg rate, reflecting short-term unsecured exposure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8353414" y="5378341"/>
            <a:ext cx="2976190" cy="773013"/>
          </a:xfrm>
          <a:prstGeom prst="roundRect">
            <a:avLst>
              <a:gd name="adj" fmla="val 12681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blurRad="127" dist="13970" dir="2700000" algn="bl" rotWithShape="0">
              <a:srgbClr val="E5B2B7">
                <a:alpha val="100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17" name="Text 13"/>
          <p:cNvSpPr/>
          <p:nvPr/>
        </p:nvSpPr>
        <p:spPr>
          <a:xfrm>
            <a:off x="8468605" y="5498964"/>
            <a:ext cx="2745810" cy="17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Lowest Risk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8468605" y="5719537"/>
            <a:ext cx="2745810" cy="296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Home loans at 4.25% — collateral-backed structures reduce lender exposure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1337336" y="5725021"/>
            <a:ext cx="9761988" cy="296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endParaRPr lang="en-US" sz="8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C73CD34-4952-EE13-D2E9-E5FFF63B06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4559" y="4745415"/>
            <a:ext cx="3558848" cy="137171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3531" y="682625"/>
            <a:ext cx="10224633" cy="296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Loan Purpose Popularity &amp; Default Rates</a:t>
            </a:r>
            <a:endParaRPr lang="en-US" sz="1850" dirty="0"/>
          </a:p>
        </p:txBody>
      </p:sp>
      <p:sp>
        <p:nvSpPr>
          <p:cNvPr id="3" name="Shape 1"/>
          <p:cNvSpPr/>
          <p:nvPr/>
        </p:nvSpPr>
        <p:spPr>
          <a:xfrm>
            <a:off x="983531" y="1094383"/>
            <a:ext cx="539538" cy="143867"/>
          </a:xfrm>
          <a:prstGeom prst="roundRect">
            <a:avLst>
              <a:gd name="adj" fmla="val 47450"/>
            </a:avLst>
          </a:prstGeom>
          <a:solidFill>
            <a:srgbClr val="FFCCD1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4" name="Text 2"/>
          <p:cNvSpPr/>
          <p:nvPr/>
        </p:nvSpPr>
        <p:spPr>
          <a:xfrm>
            <a:off x="1040382" y="1122759"/>
            <a:ext cx="1035421" cy="87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QUESTION 8</a:t>
            </a:r>
            <a:endParaRPr lang="en-US" sz="550" dirty="0"/>
          </a:p>
        </p:txBody>
      </p:sp>
      <p:sp>
        <p:nvSpPr>
          <p:cNvPr id="5" name="Shape 3"/>
          <p:cNvSpPr/>
          <p:nvPr/>
        </p:nvSpPr>
        <p:spPr>
          <a:xfrm>
            <a:off x="915270" y="1303238"/>
            <a:ext cx="4610382" cy="4406106"/>
          </a:xfrm>
          <a:prstGeom prst="roundRect">
            <a:avLst>
              <a:gd name="adj" fmla="val 3099"/>
            </a:avLst>
          </a:prstGeom>
          <a:solidFill>
            <a:srgbClr val="6B4423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6" name="Text 4"/>
          <p:cNvSpPr/>
          <p:nvPr/>
        </p:nvSpPr>
        <p:spPr>
          <a:xfrm>
            <a:off x="1010022" y="1360984"/>
            <a:ext cx="4420878" cy="14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SQL Query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10022" y="1574105"/>
            <a:ext cx="4420878" cy="4056658"/>
          </a:xfrm>
          <a:prstGeom prst="roundRect">
            <a:avLst>
              <a:gd name="adj" fmla="val 3689"/>
            </a:avLst>
          </a:prstGeom>
          <a:solidFill>
            <a:srgbClr val="785130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8" name="Text 6"/>
          <p:cNvSpPr/>
          <p:nvPr/>
        </p:nvSpPr>
        <p:spPr>
          <a:xfrm>
            <a:off x="1123723" y="1668859"/>
            <a:ext cx="4193475" cy="2123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purpose AS loan_category,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COUNT(loan_id) AS total_loans,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SUM(CASE WHEN loan_status IN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('Charged Off', 'Default')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THEN 1 ELSE 0 END)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 default_cases,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ROUND(SUM(CASE WHEN loan_status IN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('Charged Off', 'Default')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THEN 1 ELSE 0 END) * 100.0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 COUNT(loan_id), 2)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 default_rate_percentage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loan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purpose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total_loans DESC;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10022" y="3952478"/>
            <a:ext cx="4420878" cy="14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202455" y="1327597"/>
            <a:ext cx="5519500" cy="14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Default Rate by Loan Purpose</a:t>
            </a:r>
            <a:endParaRPr lang="en-US" sz="9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2455" y="1590477"/>
            <a:ext cx="3906285" cy="2680886"/>
          </a:xfrm>
          <a:prstGeom prst="rect">
            <a:avLst/>
          </a:prstGeom>
        </p:spPr>
      </p:pic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 r="17709"/>
          <a:stretch>
            <a:fillRect/>
          </a:stretch>
        </p:blipFill>
        <p:spPr>
          <a:xfrm>
            <a:off x="6202455" y="4379019"/>
            <a:ext cx="3906285" cy="1251744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983531" y="5774333"/>
            <a:ext cx="10224633" cy="401042"/>
          </a:xfrm>
          <a:prstGeom prst="roundRect">
            <a:avLst>
              <a:gd name="adj" fmla="val 21277"/>
            </a:avLst>
          </a:prstGeom>
          <a:solidFill>
            <a:srgbClr val="FFCCD1"/>
          </a:solidFill>
          <a:ln/>
        </p:spPr>
        <p:txBody>
          <a:bodyPr/>
          <a:lstStyle/>
          <a:p>
            <a:endParaRPr lang="en-GB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282" y="5855692"/>
            <a:ext cx="118464" cy="9475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91498" y="5855692"/>
            <a:ext cx="9821914" cy="244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Key Takeaway:</a:t>
            </a:r>
            <a:r>
              <a:rPr lang="en-US" sz="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700" b="1" dirty="0">
                <a:solidFill>
                  <a:srgbClr val="C85A3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Debt consolidation dominates volume (152K loans) but carries a 7.34% default rate</a:t>
            </a:r>
            <a:r>
              <a:rPr lang="en-US" sz="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the highest in the portfolio. Car loans, while lower volume, achieve the best default performance at 4.80%, validating asset-backed collateral as a risk mitigant.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3531" y="642342"/>
            <a:ext cx="10224633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Income Level vs. Loan Success Rate</a:t>
            </a:r>
            <a:endParaRPr lang="en-US" sz="1550" dirty="0"/>
          </a:p>
        </p:txBody>
      </p:sp>
      <p:sp>
        <p:nvSpPr>
          <p:cNvPr id="3" name="Shape 1"/>
          <p:cNvSpPr/>
          <p:nvPr/>
        </p:nvSpPr>
        <p:spPr>
          <a:xfrm>
            <a:off x="983531" y="977602"/>
            <a:ext cx="463142" cy="122337"/>
          </a:xfrm>
          <a:prstGeom prst="roundRect">
            <a:avLst>
              <a:gd name="adj" fmla="val 47431"/>
            </a:avLst>
          </a:prstGeom>
          <a:solidFill>
            <a:srgbClr val="FFCCD1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4" name="Text 2"/>
          <p:cNvSpPr/>
          <p:nvPr/>
        </p:nvSpPr>
        <p:spPr>
          <a:xfrm>
            <a:off x="1031849" y="1001713"/>
            <a:ext cx="976090" cy="74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QUESTION 9</a:t>
            </a:r>
            <a:endParaRPr lang="en-US" sz="500" dirty="0"/>
          </a:p>
        </p:txBody>
      </p:sp>
      <p:sp>
        <p:nvSpPr>
          <p:cNvPr id="5" name="Shape 3"/>
          <p:cNvSpPr/>
          <p:nvPr/>
        </p:nvSpPr>
        <p:spPr>
          <a:xfrm>
            <a:off x="925589" y="1146870"/>
            <a:ext cx="5847708" cy="4804569"/>
          </a:xfrm>
          <a:prstGeom prst="roundRect">
            <a:avLst>
              <a:gd name="adj" fmla="val 2701"/>
            </a:avLst>
          </a:prstGeom>
          <a:solidFill>
            <a:srgbClr val="6B4423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6" name="Text 4"/>
          <p:cNvSpPr/>
          <p:nvPr/>
        </p:nvSpPr>
        <p:spPr>
          <a:xfrm>
            <a:off x="1006152" y="1188541"/>
            <a:ext cx="4135136" cy="125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SQL Query (CTE with Income Banding)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006152" y="1361281"/>
            <a:ext cx="2832424" cy="4543227"/>
          </a:xfrm>
          <a:prstGeom prst="roundRect">
            <a:avLst>
              <a:gd name="adj" fmla="val 1754"/>
            </a:avLst>
          </a:prstGeom>
          <a:solidFill>
            <a:srgbClr val="785130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8" name="Text 6"/>
          <p:cNvSpPr/>
          <p:nvPr/>
        </p:nvSpPr>
        <p:spPr>
          <a:xfrm>
            <a:off x="1102788" y="1441847"/>
            <a:ext cx="5183711" cy="438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Income_Bands AS (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c.customer_id, l.loan_id,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l.loan_status,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WHEN c.annual_inc &lt; 30000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THEN '1. Low (&lt; $30k)'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WHEN c.annual_inc BETWEEN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30000 AND 60000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THEN '2. Lower Middle'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WHEN c.annual_inc BETWEEN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60001 AND 100000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THEN '3. Upper Middle'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ELSE '4. High (&gt; $100k)'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 AS income_bracket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customer c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JOIN loan l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 c.customer_id = l.customer_id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c.annual_inc IS NOT NULL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70150" y="1176387"/>
            <a:ext cx="5847708" cy="125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Success Rate vs. Default Rate by Income Bracket</a:t>
            </a:r>
            <a:endParaRPr lang="en-US" sz="7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0150" y="1305818"/>
            <a:ext cx="3800975" cy="2541984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r="5569" b="22419"/>
          <a:stretch>
            <a:fillRect/>
          </a:stretch>
        </p:blipFill>
        <p:spPr>
          <a:xfrm>
            <a:off x="6970150" y="4297065"/>
            <a:ext cx="4627404" cy="9627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983531" y="5998369"/>
            <a:ext cx="10224633" cy="217289"/>
          </a:xfrm>
          <a:prstGeom prst="roundRect">
            <a:avLst>
              <a:gd name="adj" fmla="val 33380"/>
            </a:avLst>
          </a:prstGeom>
          <a:solidFill>
            <a:srgbClr val="FFCCD1"/>
          </a:solidFill>
          <a:ln/>
        </p:spPr>
        <p:txBody>
          <a:bodyPr/>
          <a:lstStyle/>
          <a:p>
            <a:endParaRPr lang="en-GB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4094" y="6060182"/>
            <a:ext cx="100705" cy="8056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45363" y="6060182"/>
            <a:ext cx="10491823" cy="97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6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Key Takeaway:</a:t>
            </a:r>
            <a:r>
              <a:rPr lang="en-US" sz="6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Success rate climbs from </a:t>
            </a:r>
            <a:r>
              <a:rPr lang="en-US" sz="600" b="1" dirty="0">
                <a:solidFill>
                  <a:srgbClr val="C85A3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89.69% → 93.29%</a:t>
            </a:r>
            <a:r>
              <a:rPr lang="en-US" sz="6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as income rises, while default rate drops from 7.88% → 4.66% — empirically validating income level as a critical underwriting determinant for credit quality.</a:t>
            </a:r>
            <a:endParaRPr lang="en-US" sz="600" dirty="0"/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089CDABC-6770-5C60-35AA-6ED023B91349}"/>
              </a:ext>
            </a:extLst>
          </p:cNvPr>
          <p:cNvSpPr/>
          <p:nvPr/>
        </p:nvSpPr>
        <p:spPr>
          <a:xfrm>
            <a:off x="3882864" y="1376163"/>
            <a:ext cx="2832424" cy="4543227"/>
          </a:xfrm>
          <a:prstGeom prst="roundRect">
            <a:avLst>
              <a:gd name="adj" fmla="val 1754"/>
            </a:avLst>
          </a:prstGeom>
          <a:solidFill>
            <a:srgbClr val="785130"/>
          </a:solidFill>
          <a:ln/>
        </p:spPr>
        <p:txBody>
          <a:bodyPr/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income_bracket,</a:t>
            </a:r>
            <a:endParaRPr lang="en-US" sz="1100" dirty="0"/>
          </a:p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COUNT(loan_id) AS total_loans,</a:t>
            </a:r>
            <a:endParaRPr lang="en-US" sz="1100" dirty="0"/>
          </a:p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ROUND(SUM(CASE WHEN loan_status IN</a:t>
            </a:r>
            <a:endParaRPr lang="en-US" sz="1100" dirty="0"/>
          </a:p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('Fully Paid','Current')</a:t>
            </a:r>
            <a:endParaRPr lang="en-US" sz="1100" dirty="0"/>
          </a:p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THEN 1 ELSE 0 END)*100.0</a:t>
            </a:r>
            <a:endParaRPr lang="en-US" sz="1100" dirty="0"/>
          </a:p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/COUNT(loan_id),2)</a:t>
            </a:r>
            <a:endParaRPr lang="en-US" sz="1100" dirty="0"/>
          </a:p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 success_rate_pct,</a:t>
            </a:r>
            <a:endParaRPr lang="en-US" sz="1100" dirty="0"/>
          </a:p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ROUND(SUM(CASE WHEN loan_status IN</a:t>
            </a:r>
            <a:endParaRPr lang="en-US" sz="1100" dirty="0"/>
          </a:p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('Charged Off','Default')</a:t>
            </a:r>
            <a:endParaRPr lang="en-US" sz="1100" dirty="0"/>
          </a:p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THEN 1 ELSE 0 END)*100.0</a:t>
            </a:r>
            <a:endParaRPr lang="en-US" sz="1100" dirty="0"/>
          </a:p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/COUNT(loan_id),2)</a:t>
            </a:r>
            <a:endParaRPr lang="en-US" sz="1100" dirty="0"/>
          </a:p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 default_rate_pct</a:t>
            </a:r>
            <a:endParaRPr lang="en-US" sz="1100" dirty="0"/>
          </a:p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Income_Bands</a:t>
            </a:r>
            <a:endParaRPr lang="en-US" sz="1100" dirty="0"/>
          </a:p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income_bracket</a:t>
            </a:r>
            <a:endParaRPr lang="en-US" sz="1100" dirty="0"/>
          </a:p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income_bracket;</a:t>
            </a:r>
            <a:endParaRPr lang="en-GB" sz="1100" dirty="0"/>
          </a:p>
          <a:p>
            <a:endParaRPr lang="en-IN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3531" y="682228"/>
            <a:ext cx="10224633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Early Risk Detection — Missed Payment Signals</a:t>
            </a:r>
            <a:endParaRPr lang="en-US" sz="1850" dirty="0"/>
          </a:p>
        </p:txBody>
      </p:sp>
      <p:sp>
        <p:nvSpPr>
          <p:cNvPr id="3" name="Shape 1"/>
          <p:cNvSpPr/>
          <p:nvPr/>
        </p:nvSpPr>
        <p:spPr>
          <a:xfrm>
            <a:off x="983531" y="1102816"/>
            <a:ext cx="555214" cy="146348"/>
          </a:xfrm>
          <a:prstGeom prst="roundRect">
            <a:avLst>
              <a:gd name="adj" fmla="val 47423"/>
            </a:avLst>
          </a:prstGeom>
          <a:solidFill>
            <a:srgbClr val="FFCCD1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4" name="Text 2"/>
          <p:cNvSpPr/>
          <p:nvPr/>
        </p:nvSpPr>
        <p:spPr>
          <a:xfrm>
            <a:off x="1041275" y="1131689"/>
            <a:ext cx="1049311" cy="88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QUESTION 10</a:t>
            </a:r>
          </a:p>
          <a:p>
            <a:pPr marL="0" indent="0" algn="l">
              <a:lnSpc>
                <a:spcPct val="96000"/>
              </a:lnSpc>
              <a:buNone/>
            </a:pP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914079" y="1303933"/>
            <a:ext cx="4610580" cy="4477147"/>
          </a:xfrm>
          <a:prstGeom prst="roundRect">
            <a:avLst>
              <a:gd name="adj" fmla="val 3168"/>
            </a:avLst>
          </a:prstGeom>
          <a:solidFill>
            <a:srgbClr val="6B4423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6" name="Text 4"/>
          <p:cNvSpPr/>
          <p:nvPr/>
        </p:nvSpPr>
        <p:spPr>
          <a:xfrm>
            <a:off x="1010418" y="1375966"/>
            <a:ext cx="4417902" cy="15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SQL Query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10418" y="1593652"/>
            <a:ext cx="4417902" cy="4161532"/>
          </a:xfrm>
          <a:prstGeom prst="roundRect">
            <a:avLst>
              <a:gd name="adj" fmla="val 4244"/>
            </a:avLst>
          </a:prstGeom>
          <a:solidFill>
            <a:srgbClr val="785130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8" name="Text 6"/>
          <p:cNvSpPr/>
          <p:nvPr/>
        </p:nvSpPr>
        <p:spPr>
          <a:xfrm>
            <a:off x="1126005" y="1689992"/>
            <a:ext cx="4186728" cy="3939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</a:p>
          <a:p>
            <a:pPr>
              <a:lnSpc>
                <a:spcPct val="133000"/>
              </a:lnSpc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c.customer_id,</a:t>
            </a:r>
          </a:p>
          <a:p>
            <a:pPr>
              <a:lnSpc>
                <a:spcPct val="133000"/>
              </a:lnSpc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c.addr_state AS state,</a:t>
            </a:r>
          </a:p>
          <a:p>
            <a:pPr>
              <a:lnSpc>
                <a:spcPct val="133000"/>
              </a:lnSpc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l.loan_id,</a:t>
            </a:r>
          </a:p>
          <a:p>
            <a:pPr>
              <a:lnSpc>
                <a:spcPct val="133000"/>
              </a:lnSpc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l.loan_amount,</a:t>
            </a:r>
          </a:p>
          <a:p>
            <a:pPr>
              <a:lnSpc>
                <a:spcPct val="133000"/>
              </a:lnSpc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l.loan_status,</a:t>
            </a:r>
          </a:p>
          <a:p>
            <a:pPr>
              <a:lnSpc>
                <a:spcPct val="133000"/>
              </a:lnSpc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</a:t>
            </a:r>
          </a:p>
          <a:p>
            <a:pPr>
              <a:lnSpc>
                <a:spcPct val="133000"/>
              </a:lnSpc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WHEN l.loan_status = 'Late (16-30 days)' THEN '1 EMI Missed'</a:t>
            </a:r>
          </a:p>
          <a:p>
            <a:pPr>
              <a:lnSpc>
                <a:spcPct val="133000"/>
              </a:lnSpc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WHEN l.loan_status = 'Late (31-120 days)' THEN '2 to 4 EMIs Missed'</a:t>
            </a:r>
          </a:p>
          <a:p>
            <a:pPr>
              <a:lnSpc>
                <a:spcPct val="133000"/>
              </a:lnSpc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WHEN l.loan_status = 'Default' THEN '5+ EMIs Missed'</a:t>
            </a:r>
          </a:p>
          <a:p>
            <a:pPr>
              <a:lnSpc>
                <a:spcPct val="133000"/>
              </a:lnSpc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 'Unknown'</a:t>
            </a:r>
          </a:p>
          <a:p>
            <a:pPr>
              <a:lnSpc>
                <a:spcPct val="133000"/>
              </a:lnSpc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 AS estimated_missed_payments</a:t>
            </a:r>
          </a:p>
          <a:p>
            <a:pPr>
              <a:lnSpc>
                <a:spcPct val="133000"/>
              </a:lnSpc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 c</a:t>
            </a:r>
          </a:p>
          <a:p>
            <a:pPr>
              <a:lnSpc>
                <a:spcPct val="133000"/>
              </a:lnSpc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loan l ON c.customer_id = l.customer_id</a:t>
            </a:r>
          </a:p>
          <a:p>
            <a:pPr>
              <a:lnSpc>
                <a:spcPct val="133000"/>
              </a:lnSpc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l.loan_status IN ('Late (16-30 days)', 'Late (31-120 days)', 'Default')</a:t>
            </a:r>
          </a:p>
          <a:p>
            <a:pPr>
              <a:lnSpc>
                <a:spcPct val="133000"/>
              </a:lnSpc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l.loan_amount DESC;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10418" y="3704927"/>
            <a:ext cx="4417902" cy="15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96700" y="1375966"/>
            <a:ext cx="5517714" cy="15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SQL Query Output</a:t>
            </a:r>
            <a:endParaRPr lang="en-US" sz="900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96700" y="3553916"/>
            <a:ext cx="5517714" cy="553145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856538" y="3647579"/>
            <a:ext cx="5248838" cy="15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🟡</a:t>
            </a:r>
            <a:r>
              <a:rPr lang="en-US" sz="9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Monitor — Late 1–15 Days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856538" y="3857724"/>
            <a:ext cx="5248838" cy="124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523 borrowers at early stress. Flag in CRM, no action required but trend-watch weekly.</a:t>
            </a:r>
            <a:endParaRPr lang="en-US" sz="750" dirty="0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96700" y="4166691"/>
            <a:ext cx="5517714" cy="553145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856538" y="4260354"/>
            <a:ext cx="5248838" cy="15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🟠</a:t>
            </a:r>
            <a:r>
              <a:rPr lang="en-US" sz="9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Escalate — Late 16–30 Days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5856538" y="4470499"/>
            <a:ext cx="5248838" cy="124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234 borrowers with 1 EMI missed. Initiate outreach, restructuring options, and payment plans.</a:t>
            </a:r>
            <a:endParaRPr lang="en-US" sz="750" dirty="0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96700" y="4779466"/>
            <a:ext cx="5517714" cy="553145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856538" y="4873129"/>
            <a:ext cx="5248838" cy="15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🔴</a:t>
            </a:r>
            <a:r>
              <a:rPr lang="en-US" sz="9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Default Risk — 31+ Days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5856538" y="5083274"/>
            <a:ext cx="5248838" cy="124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90 borrowers with multiple missed EMIs. Immediate collections escalation and legal review required.</a:t>
            </a:r>
            <a:endParaRPr lang="en-US" sz="750" dirty="0"/>
          </a:p>
        </p:txBody>
      </p:sp>
      <p:sp>
        <p:nvSpPr>
          <p:cNvPr id="36" name="Shape 30"/>
          <p:cNvSpPr/>
          <p:nvPr/>
        </p:nvSpPr>
        <p:spPr>
          <a:xfrm>
            <a:off x="989781" y="6025603"/>
            <a:ext cx="10224633" cy="411163"/>
          </a:xfrm>
          <a:prstGeom prst="roundRect">
            <a:avLst>
              <a:gd name="adj" fmla="val 21100"/>
            </a:avLst>
          </a:prstGeom>
          <a:solidFill>
            <a:srgbClr val="FFCCD1"/>
          </a:solidFill>
          <a:ln/>
        </p:spPr>
        <p:txBody>
          <a:bodyPr/>
          <a:lstStyle/>
          <a:p>
            <a:endParaRPr lang="en-GB" dirty="0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644" y="6098084"/>
            <a:ext cx="120449" cy="96341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1290208" y="6098084"/>
            <a:ext cx="9815168" cy="249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Key Takeaway:</a:t>
            </a:r>
            <a:r>
              <a:rPr lang="en-US" sz="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Identifying the </a:t>
            </a:r>
            <a:r>
              <a:rPr lang="en-US" sz="750" b="1" dirty="0">
                <a:solidFill>
                  <a:srgbClr val="C85A3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847 at-risk borrowers</a:t>
            </a:r>
            <a:r>
              <a:rPr lang="en-US" sz="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across tiered delinquency stages enables proactive risk mitigation — catching stress signals early prevents full-default losses and reduces portfolio charge-off exposure.</a:t>
            </a:r>
            <a:endParaRPr lang="en-US" sz="75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A5B320A0-7B6E-FCEC-0B57-575E8EB662D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5989"/>
          <a:stretch>
            <a:fillRect/>
          </a:stretch>
        </p:blipFill>
        <p:spPr>
          <a:xfrm>
            <a:off x="5856538" y="1645245"/>
            <a:ext cx="4516187" cy="17127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8619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Thank You!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356682" y="2454870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Thank you for your time and attention. I am open to any questions or feedback.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017143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4A4A4A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337323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Contact Information</a:t>
            </a:r>
            <a:endParaRPr lang="en-US" sz="18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951982"/>
            <a:ext cx="472468" cy="472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1475" y="4660702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Email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661475" y="5069384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A"/>
                </a:solidFill>
                <a:latin typeface="DM Sans" pitchFamily="34" charset="0"/>
              </a:rPr>
              <a:t>kumarmohitamu@gmail.com</a:t>
            </a:r>
            <a:endParaRPr lang="en-US" sz="14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3951982"/>
            <a:ext cx="472468" cy="472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63135" y="4660702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LinkedIn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4126901" y="5114231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fontAlgn="base"/>
            <a:r>
              <a:rPr lang="en-GB" sz="1550" dirty="0">
                <a:latin typeface="DM Sans" pitchFamily="2" charset="0"/>
              </a:rPr>
              <a:t>www.linkedin.com/in/mohitmintorian</a:t>
            </a:r>
          </a:p>
          <a:p>
            <a:br>
              <a:rPr lang="en-GB" sz="1550" dirty="0">
                <a:latin typeface="DM Sans" pitchFamily="2" charset="0"/>
              </a:rPr>
            </a:br>
            <a:endParaRPr lang="en-US" sz="1550" dirty="0">
              <a:latin typeface="DM Sans" pitchFamily="2" charset="0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794" y="3951982"/>
            <a:ext cx="472468" cy="472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64794" y="4660702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GitHub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8064794" y="5069384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4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https://github.com/MohitMintorian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66807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2231</Words>
  <Application>Microsoft Office PowerPoint</Application>
  <PresentationFormat>Widescreen</PresentationFormat>
  <Paragraphs>282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DM Sans Bold</vt:lpstr>
      <vt:lpstr>DM Sans SemiBold</vt:lpstr>
      <vt:lpstr>DM Sans</vt:lpstr>
      <vt:lpstr>Consolas</vt:lpstr>
      <vt:lpstr>Arial</vt:lpstr>
      <vt:lpstr>Twemoji Mozilla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Mohit Mintorian</dc:creator>
  <cp:lastModifiedBy>Mohit Mintorian</cp:lastModifiedBy>
  <cp:revision>6</cp:revision>
  <dcterms:created xsi:type="dcterms:W3CDTF">2026-09-11T11:41:09Z</dcterms:created>
  <dcterms:modified xsi:type="dcterms:W3CDTF">2026-09-25T07:09:07Z</dcterms:modified>
</cp:coreProperties>
</file>